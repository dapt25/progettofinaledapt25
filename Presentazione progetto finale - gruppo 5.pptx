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Open Sans" panose="020B0606030504020204" pitchFamily="34" charset="0"/>
      <p:regular r:id="rId7"/>
      <p:bold r:id="rId8"/>
      <p:italic r:id="rId9"/>
      <p:boldItalic r:id="rId10"/>
    </p:embeddedFont>
    <p:embeddedFont>
      <p:font typeface="Roboto Condensed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3B27"/>
    <a:srgbClr val="F5EEDE"/>
    <a:srgbClr val="1673C8"/>
    <a:srgbClr val="FFA3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83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3805" y="-1972313"/>
            <a:ext cx="18322439" cy="10903789"/>
            <a:chOff x="0" y="0"/>
            <a:chExt cx="4825663" cy="28717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25663" cy="2871780"/>
            </a:xfrm>
            <a:custGeom>
              <a:avLst/>
              <a:gdLst/>
              <a:ahLst/>
              <a:cxnLst/>
              <a:rect l="l" t="t" r="r" b="b"/>
              <a:pathLst>
                <a:path w="4825663" h="2871780">
                  <a:moveTo>
                    <a:pt x="42254" y="0"/>
                  </a:moveTo>
                  <a:lnTo>
                    <a:pt x="4783409" y="0"/>
                  </a:lnTo>
                  <a:cubicBezTo>
                    <a:pt x="4806745" y="0"/>
                    <a:pt x="4825663" y="18918"/>
                    <a:pt x="4825663" y="42254"/>
                  </a:cubicBezTo>
                  <a:lnTo>
                    <a:pt x="4825663" y="2829526"/>
                  </a:lnTo>
                  <a:cubicBezTo>
                    <a:pt x="4825663" y="2852862"/>
                    <a:pt x="4806745" y="2871780"/>
                    <a:pt x="4783409" y="2871780"/>
                  </a:cubicBezTo>
                  <a:lnTo>
                    <a:pt x="42254" y="2871780"/>
                  </a:lnTo>
                  <a:cubicBezTo>
                    <a:pt x="18918" y="2871780"/>
                    <a:pt x="0" y="2852862"/>
                    <a:pt x="0" y="2829526"/>
                  </a:cubicBezTo>
                  <a:lnTo>
                    <a:pt x="0" y="42254"/>
                  </a:lnTo>
                  <a:cubicBezTo>
                    <a:pt x="0" y="18918"/>
                    <a:pt x="18918" y="0"/>
                    <a:pt x="42254" y="0"/>
                  </a:cubicBezTo>
                  <a:close/>
                </a:path>
              </a:pathLst>
            </a:custGeom>
            <a:solidFill>
              <a:srgbClr val="F5EEDE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25663" cy="29098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73805" y="-326824"/>
            <a:ext cx="17259300" cy="9258300"/>
          </a:xfrm>
          <a:custGeom>
            <a:avLst/>
            <a:gdLst/>
            <a:ahLst/>
            <a:cxnLst/>
            <a:rect l="l" t="t" r="r" b="b"/>
            <a:pathLst>
              <a:path w="17259300" h="9258300">
                <a:moveTo>
                  <a:pt x="0" y="0"/>
                </a:moveTo>
                <a:lnTo>
                  <a:pt x="17259300" y="0"/>
                </a:lnTo>
                <a:lnTo>
                  <a:pt x="1725930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40271" b="-46148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9144000" y="1034529"/>
            <a:ext cx="8223322" cy="6922542"/>
          </a:xfrm>
          <a:custGeom>
            <a:avLst/>
            <a:gdLst/>
            <a:ahLst/>
            <a:cxnLst/>
            <a:rect l="l" t="t" r="r" b="b"/>
            <a:pathLst>
              <a:path w="8223322" h="6922542">
                <a:moveTo>
                  <a:pt x="0" y="0"/>
                </a:moveTo>
                <a:lnTo>
                  <a:pt x="8223322" y="0"/>
                </a:lnTo>
                <a:lnTo>
                  <a:pt x="8223322" y="6922542"/>
                </a:lnTo>
                <a:lnTo>
                  <a:pt x="0" y="6922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7" name="Group 7"/>
          <p:cNvGrpSpPr/>
          <p:nvPr/>
        </p:nvGrpSpPr>
        <p:grpSpPr>
          <a:xfrm>
            <a:off x="1884050" y="-1645489"/>
            <a:ext cx="1191946" cy="3086100"/>
            <a:chOff x="0" y="0"/>
            <a:chExt cx="313928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3928" cy="812800"/>
            </a:xfrm>
            <a:custGeom>
              <a:avLst/>
              <a:gdLst/>
              <a:ahLst/>
              <a:cxnLst/>
              <a:rect l="l" t="t" r="r" b="b"/>
              <a:pathLst>
                <a:path w="313928" h="812800">
                  <a:moveTo>
                    <a:pt x="0" y="0"/>
                  </a:moveTo>
                  <a:lnTo>
                    <a:pt x="313928" y="0"/>
                  </a:lnTo>
                  <a:lnTo>
                    <a:pt x="31392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3B2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1392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5400000">
            <a:off x="2495108" y="6162215"/>
            <a:ext cx="890151" cy="2112266"/>
            <a:chOff x="0" y="0"/>
            <a:chExt cx="593120" cy="1407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93120" cy="1407432"/>
            </a:xfrm>
            <a:custGeom>
              <a:avLst/>
              <a:gdLst/>
              <a:ahLst/>
              <a:cxnLst/>
              <a:rect l="l" t="t" r="r" b="b"/>
              <a:pathLst>
                <a:path w="593120" h="1407432">
                  <a:moveTo>
                    <a:pt x="170058" y="0"/>
                  </a:moveTo>
                  <a:lnTo>
                    <a:pt x="423062" y="0"/>
                  </a:lnTo>
                  <a:cubicBezTo>
                    <a:pt x="516982" y="0"/>
                    <a:pt x="593120" y="76138"/>
                    <a:pt x="593120" y="170058"/>
                  </a:cubicBezTo>
                  <a:lnTo>
                    <a:pt x="593120" y="1237374"/>
                  </a:lnTo>
                  <a:cubicBezTo>
                    <a:pt x="593120" y="1331295"/>
                    <a:pt x="516982" y="1407432"/>
                    <a:pt x="423062" y="1407432"/>
                  </a:cubicBezTo>
                  <a:lnTo>
                    <a:pt x="170058" y="1407432"/>
                  </a:lnTo>
                  <a:cubicBezTo>
                    <a:pt x="76138" y="1407432"/>
                    <a:pt x="0" y="1331295"/>
                    <a:pt x="0" y="1237374"/>
                  </a:cubicBezTo>
                  <a:lnTo>
                    <a:pt x="0" y="170058"/>
                  </a:lnTo>
                  <a:cubicBezTo>
                    <a:pt x="0" y="76138"/>
                    <a:pt x="76138" y="0"/>
                    <a:pt x="170058" y="0"/>
                  </a:cubicBezTo>
                  <a:close/>
                </a:path>
              </a:pathLst>
            </a:custGeom>
            <a:solidFill>
              <a:srgbClr val="E13B27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593120" cy="1445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366198" y="-1350214"/>
            <a:ext cx="227650" cy="3086100"/>
            <a:chOff x="0" y="0"/>
            <a:chExt cx="59957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9957" cy="812800"/>
            </a:xfrm>
            <a:custGeom>
              <a:avLst/>
              <a:gdLst/>
              <a:ahLst/>
              <a:cxnLst/>
              <a:rect l="l" t="t" r="r" b="b"/>
              <a:pathLst>
                <a:path w="59957" h="812800">
                  <a:moveTo>
                    <a:pt x="0" y="0"/>
                  </a:moveTo>
                  <a:lnTo>
                    <a:pt x="59957" y="0"/>
                  </a:lnTo>
                  <a:lnTo>
                    <a:pt x="5995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995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5576476" y="9297522"/>
            <a:ext cx="1595487" cy="716519"/>
          </a:xfrm>
          <a:custGeom>
            <a:avLst/>
            <a:gdLst/>
            <a:ahLst/>
            <a:cxnLst/>
            <a:rect l="l" t="t" r="r" b="b"/>
            <a:pathLst>
              <a:path w="1595487" h="716519">
                <a:moveTo>
                  <a:pt x="0" y="0"/>
                </a:moveTo>
                <a:lnTo>
                  <a:pt x="1595487" y="0"/>
                </a:lnTo>
                <a:lnTo>
                  <a:pt x="1595487" y="716519"/>
                </a:lnTo>
                <a:lnTo>
                  <a:pt x="0" y="7165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Freeform 17"/>
          <p:cNvSpPr/>
          <p:nvPr/>
        </p:nvSpPr>
        <p:spPr>
          <a:xfrm>
            <a:off x="8920568" y="557724"/>
            <a:ext cx="882887" cy="882887"/>
          </a:xfrm>
          <a:custGeom>
            <a:avLst/>
            <a:gdLst/>
            <a:ahLst/>
            <a:cxnLst/>
            <a:rect l="l" t="t" r="r" b="b"/>
            <a:pathLst>
              <a:path w="882887" h="882887">
                <a:moveTo>
                  <a:pt x="0" y="0"/>
                </a:moveTo>
                <a:lnTo>
                  <a:pt x="882887" y="0"/>
                </a:lnTo>
                <a:lnTo>
                  <a:pt x="882887" y="882887"/>
                </a:lnTo>
                <a:lnTo>
                  <a:pt x="0" y="882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8" name="Freeform 18"/>
          <p:cNvSpPr/>
          <p:nvPr/>
        </p:nvSpPr>
        <p:spPr>
          <a:xfrm>
            <a:off x="17367322" y="4254579"/>
            <a:ext cx="441444" cy="441444"/>
          </a:xfrm>
          <a:custGeom>
            <a:avLst/>
            <a:gdLst/>
            <a:ahLst/>
            <a:cxnLst/>
            <a:rect l="l" t="t" r="r" b="b"/>
            <a:pathLst>
              <a:path w="441444" h="441444">
                <a:moveTo>
                  <a:pt x="0" y="0"/>
                </a:moveTo>
                <a:lnTo>
                  <a:pt x="441443" y="0"/>
                </a:lnTo>
                <a:lnTo>
                  <a:pt x="441443" y="441444"/>
                </a:lnTo>
                <a:lnTo>
                  <a:pt x="0" y="441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9" name="Group 19"/>
          <p:cNvGrpSpPr/>
          <p:nvPr/>
        </p:nvGrpSpPr>
        <p:grpSpPr>
          <a:xfrm>
            <a:off x="7527441" y="7663423"/>
            <a:ext cx="648057" cy="648057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884050" y="2229820"/>
            <a:ext cx="7336150" cy="1346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74"/>
              </a:lnSpc>
            </a:pPr>
            <a:r>
              <a:rPr lang="en-US" sz="9000" b="1" dirty="0" err="1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Natalità</a:t>
            </a:r>
            <a:r>
              <a:rPr lang="en-US" sz="9000" b="1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in Italia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61724" y="6862038"/>
            <a:ext cx="1499737" cy="712620"/>
          </a:xfrm>
          <a:prstGeom prst="rect">
            <a:avLst/>
          </a:prstGeom>
          <a:solidFill>
            <a:srgbClr val="E13B27"/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1"/>
              </a:lnSpc>
              <a:spcBef>
                <a:spcPct val="0"/>
              </a:spcBef>
            </a:pPr>
            <a:r>
              <a:rPr lang="en-US" sz="4093" b="1" dirty="0">
                <a:solidFill>
                  <a:srgbClr val="F5EED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SLIDES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02C70FF4-1BF1-594E-0128-EB46EFF14084}"/>
              </a:ext>
            </a:extLst>
          </p:cNvPr>
          <p:cNvSpPr txBox="1"/>
          <p:nvPr/>
        </p:nvSpPr>
        <p:spPr>
          <a:xfrm>
            <a:off x="1884050" y="3440838"/>
            <a:ext cx="7336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kern="0" spc="100" dirty="0">
                <a:latin typeface="Roboto Condensed Bold" panose="020B0604020202020204" charset="0"/>
                <a:ea typeface="Roboto Condensed Bold" panose="020B0604020202020204" charset="0"/>
              </a:rPr>
              <a:t>Analisi di alcuni dei fattori che contribuiscono a un trend noto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8873" y="30766"/>
            <a:ext cx="19119646" cy="10256234"/>
          </a:xfrm>
          <a:custGeom>
            <a:avLst/>
            <a:gdLst/>
            <a:ahLst/>
            <a:cxnLst/>
            <a:rect l="l" t="t" r="r" b="b"/>
            <a:pathLst>
              <a:path w="19119646" h="10256234">
                <a:moveTo>
                  <a:pt x="0" y="0"/>
                </a:moveTo>
                <a:lnTo>
                  <a:pt x="19119647" y="0"/>
                </a:lnTo>
                <a:lnTo>
                  <a:pt x="19119647" y="10256234"/>
                </a:lnTo>
                <a:lnTo>
                  <a:pt x="0" y="10256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40271" b="-46148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-635426" y="-1554314"/>
            <a:ext cx="1191946" cy="3086100"/>
            <a:chOff x="0" y="0"/>
            <a:chExt cx="313928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3928" cy="812800"/>
            </a:xfrm>
            <a:custGeom>
              <a:avLst/>
              <a:gdLst/>
              <a:ahLst/>
              <a:cxnLst/>
              <a:rect l="l" t="t" r="r" b="b"/>
              <a:pathLst>
                <a:path w="313928" h="812800">
                  <a:moveTo>
                    <a:pt x="0" y="0"/>
                  </a:moveTo>
                  <a:lnTo>
                    <a:pt x="313928" y="0"/>
                  </a:lnTo>
                  <a:lnTo>
                    <a:pt x="31392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3B2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1392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56521" y="-1179474"/>
            <a:ext cx="227650" cy="3086100"/>
            <a:chOff x="0" y="0"/>
            <a:chExt cx="59957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957" cy="812800"/>
            </a:xfrm>
            <a:custGeom>
              <a:avLst/>
              <a:gdLst/>
              <a:ahLst/>
              <a:cxnLst/>
              <a:rect l="l" t="t" r="r" b="b"/>
              <a:pathLst>
                <a:path w="59957" h="812800">
                  <a:moveTo>
                    <a:pt x="0" y="0"/>
                  </a:moveTo>
                  <a:lnTo>
                    <a:pt x="59957" y="0"/>
                  </a:lnTo>
                  <a:lnTo>
                    <a:pt x="5995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995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30065" y="-3497597"/>
            <a:ext cx="18322439" cy="12390885"/>
            <a:chOff x="0" y="0"/>
            <a:chExt cx="4825663" cy="32634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25663" cy="3263443"/>
            </a:xfrm>
            <a:custGeom>
              <a:avLst/>
              <a:gdLst/>
              <a:ahLst/>
              <a:cxnLst/>
              <a:rect l="l" t="t" r="r" b="b"/>
              <a:pathLst>
                <a:path w="4825663" h="3263443">
                  <a:moveTo>
                    <a:pt x="42254" y="0"/>
                  </a:moveTo>
                  <a:lnTo>
                    <a:pt x="4783409" y="0"/>
                  </a:lnTo>
                  <a:cubicBezTo>
                    <a:pt x="4806745" y="0"/>
                    <a:pt x="4825663" y="18918"/>
                    <a:pt x="4825663" y="42254"/>
                  </a:cubicBezTo>
                  <a:lnTo>
                    <a:pt x="4825663" y="3221189"/>
                  </a:lnTo>
                  <a:cubicBezTo>
                    <a:pt x="4825663" y="3244525"/>
                    <a:pt x="4806745" y="3263443"/>
                    <a:pt x="4783409" y="3263443"/>
                  </a:cubicBezTo>
                  <a:lnTo>
                    <a:pt x="42254" y="3263443"/>
                  </a:lnTo>
                  <a:cubicBezTo>
                    <a:pt x="18918" y="3263443"/>
                    <a:pt x="0" y="3244525"/>
                    <a:pt x="0" y="3221189"/>
                  </a:cubicBezTo>
                  <a:lnTo>
                    <a:pt x="0" y="42254"/>
                  </a:lnTo>
                  <a:cubicBezTo>
                    <a:pt x="0" y="18918"/>
                    <a:pt x="18918" y="0"/>
                    <a:pt x="42254" y="0"/>
                  </a:cubicBezTo>
                  <a:close/>
                </a:path>
              </a:pathLst>
            </a:custGeom>
            <a:solidFill>
              <a:srgbClr val="FFA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25663" cy="3301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411200" y="1085849"/>
            <a:ext cx="3794478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39"/>
              </a:lnSpc>
              <a:spcBef>
                <a:spcPct val="0"/>
              </a:spcBef>
            </a:pPr>
            <a:r>
              <a:rPr lang="en-US" sz="3699" b="1" u="none" strike="noStrike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LA CITTADINANZA</a:t>
            </a:r>
          </a:p>
        </p:txBody>
      </p:sp>
      <p:sp>
        <p:nvSpPr>
          <p:cNvPr id="13" name="Freeform 13"/>
          <p:cNvSpPr/>
          <p:nvPr/>
        </p:nvSpPr>
        <p:spPr>
          <a:xfrm>
            <a:off x="11537363" y="5890046"/>
            <a:ext cx="2908763" cy="2790298"/>
          </a:xfrm>
          <a:custGeom>
            <a:avLst/>
            <a:gdLst/>
            <a:ahLst/>
            <a:cxnLst/>
            <a:rect l="l" t="t" r="r" b="b"/>
            <a:pathLst>
              <a:path w="8253085" h="6977608">
                <a:moveTo>
                  <a:pt x="0" y="0"/>
                </a:moveTo>
                <a:lnTo>
                  <a:pt x="8253085" y="0"/>
                </a:lnTo>
                <a:lnTo>
                  <a:pt x="8253085" y="6977608"/>
                </a:lnTo>
                <a:lnTo>
                  <a:pt x="0" y="6977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TextBox 14"/>
          <p:cNvSpPr txBox="1"/>
          <p:nvPr/>
        </p:nvSpPr>
        <p:spPr>
          <a:xfrm>
            <a:off x="5995196" y="3770734"/>
            <a:ext cx="3306074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39"/>
              </a:lnSpc>
              <a:spcBef>
                <a:spcPct val="0"/>
              </a:spcBef>
            </a:pPr>
            <a:r>
              <a:rPr lang="en-US" sz="3699" b="1" u="none" strike="noStrike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LE MADRI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21774" y="4367770"/>
            <a:ext cx="2930533" cy="1075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it-IT" sz="1600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Età delle neomamme e il tasso di occupazione femminile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it-IT" sz="1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cura di Alessio Africa</a:t>
            </a:r>
            <a:endParaRPr lang="it-IT" sz="1600" u="none" strike="noStrike" noProof="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995196" y="1085850"/>
            <a:ext cx="3306074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39"/>
              </a:lnSpc>
              <a:spcBef>
                <a:spcPct val="0"/>
              </a:spcBef>
            </a:pPr>
            <a:r>
              <a:rPr lang="en-US" sz="3699" b="1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INTRODUZIONE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95196" y="1681407"/>
            <a:ext cx="2957110" cy="1075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it-IT" sz="1600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Presentazione del progetto e contesto storico 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it-IT" sz="1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it-IT" sz="1600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cura di Margherita Lerra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95081" y="1616970"/>
            <a:ext cx="2908763" cy="144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it-IT" sz="1600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Quanto influiscono le mamme straniere in Italia sui dati raccolti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it-IT" sz="1600" u="none" strike="noStrike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cura di Armando La Prova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0" y="9346722"/>
            <a:ext cx="9816251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9000" b="1" u="none" strike="noStrike" dirty="0" err="1">
                <a:solidFill>
                  <a:srgbClr val="0F1A3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Indice</a:t>
            </a:r>
            <a:endParaRPr lang="en-US" sz="9000" b="1" u="none" strike="noStrike" dirty="0">
              <a:solidFill>
                <a:srgbClr val="0F1A38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3321190" y="912684"/>
            <a:ext cx="2013252" cy="1847913"/>
            <a:chOff x="0" y="0"/>
            <a:chExt cx="2684336" cy="2463883"/>
          </a:xfrm>
        </p:grpSpPr>
        <p:grpSp>
          <p:nvGrpSpPr>
            <p:cNvPr id="21" name="Group 21"/>
            <p:cNvGrpSpPr/>
            <p:nvPr/>
          </p:nvGrpSpPr>
          <p:grpSpPr>
            <a:xfrm rot="-5400000">
              <a:off x="110226" y="-110226"/>
              <a:ext cx="2463883" cy="2684336"/>
              <a:chOff x="0" y="0"/>
              <a:chExt cx="1533467" cy="167067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533467" cy="1670672"/>
              </a:xfrm>
              <a:custGeom>
                <a:avLst/>
                <a:gdLst/>
                <a:ahLst/>
                <a:cxnLst/>
                <a:rect l="l" t="t" r="r" b="b"/>
                <a:pathLst>
                  <a:path w="1533467" h="1670672">
                    <a:moveTo>
                      <a:pt x="263165" y="0"/>
                    </a:moveTo>
                    <a:lnTo>
                      <a:pt x="1270302" y="0"/>
                    </a:lnTo>
                    <a:cubicBezTo>
                      <a:pt x="1415644" y="0"/>
                      <a:pt x="1533467" y="117823"/>
                      <a:pt x="1533467" y="263165"/>
                    </a:cubicBezTo>
                    <a:lnTo>
                      <a:pt x="1533467" y="1407507"/>
                    </a:lnTo>
                    <a:cubicBezTo>
                      <a:pt x="1533467" y="1552849"/>
                      <a:pt x="1415644" y="1670672"/>
                      <a:pt x="1270302" y="1670672"/>
                    </a:cubicBezTo>
                    <a:lnTo>
                      <a:pt x="263165" y="1670672"/>
                    </a:lnTo>
                    <a:cubicBezTo>
                      <a:pt x="117823" y="1670672"/>
                      <a:pt x="0" y="1552849"/>
                      <a:pt x="0" y="1407507"/>
                    </a:cubicBezTo>
                    <a:lnTo>
                      <a:pt x="0" y="263165"/>
                    </a:lnTo>
                    <a:cubicBezTo>
                      <a:pt x="0" y="117823"/>
                      <a:pt x="117823" y="0"/>
                      <a:pt x="263165" y="0"/>
                    </a:cubicBezTo>
                    <a:close/>
                  </a:path>
                </a:pathLst>
              </a:custGeom>
              <a:solidFill>
                <a:srgbClr val="F5EEDE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533467" cy="17087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52297" y="423984"/>
              <a:ext cx="2232039" cy="1787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662"/>
                </a:lnSpc>
              </a:pPr>
              <a:r>
                <a:rPr lang="en-US" sz="9662" b="1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01.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321190" y="3398327"/>
            <a:ext cx="2013252" cy="1847913"/>
            <a:chOff x="0" y="0"/>
            <a:chExt cx="2684336" cy="2463883"/>
          </a:xfrm>
        </p:grpSpPr>
        <p:grpSp>
          <p:nvGrpSpPr>
            <p:cNvPr id="26" name="Group 26"/>
            <p:cNvGrpSpPr/>
            <p:nvPr/>
          </p:nvGrpSpPr>
          <p:grpSpPr>
            <a:xfrm rot="-5400000">
              <a:off x="110226" y="-110226"/>
              <a:ext cx="2463883" cy="2684336"/>
              <a:chOff x="0" y="0"/>
              <a:chExt cx="1533467" cy="167067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533467" cy="1670672"/>
              </a:xfrm>
              <a:custGeom>
                <a:avLst/>
                <a:gdLst/>
                <a:ahLst/>
                <a:cxnLst/>
                <a:rect l="l" t="t" r="r" b="b"/>
                <a:pathLst>
                  <a:path w="1533467" h="1670672">
                    <a:moveTo>
                      <a:pt x="263165" y="0"/>
                    </a:moveTo>
                    <a:lnTo>
                      <a:pt x="1270302" y="0"/>
                    </a:lnTo>
                    <a:cubicBezTo>
                      <a:pt x="1415644" y="0"/>
                      <a:pt x="1533467" y="117823"/>
                      <a:pt x="1533467" y="263165"/>
                    </a:cubicBezTo>
                    <a:lnTo>
                      <a:pt x="1533467" y="1407507"/>
                    </a:lnTo>
                    <a:cubicBezTo>
                      <a:pt x="1533467" y="1552849"/>
                      <a:pt x="1415644" y="1670672"/>
                      <a:pt x="1270302" y="1670672"/>
                    </a:cubicBezTo>
                    <a:lnTo>
                      <a:pt x="263165" y="1670672"/>
                    </a:lnTo>
                    <a:cubicBezTo>
                      <a:pt x="117823" y="1670672"/>
                      <a:pt x="0" y="1552849"/>
                      <a:pt x="0" y="1407507"/>
                    </a:cubicBezTo>
                    <a:lnTo>
                      <a:pt x="0" y="263165"/>
                    </a:lnTo>
                    <a:cubicBezTo>
                      <a:pt x="0" y="117823"/>
                      <a:pt x="117823" y="0"/>
                      <a:pt x="263165" y="0"/>
                    </a:cubicBezTo>
                    <a:close/>
                  </a:path>
                </a:pathLst>
              </a:custGeom>
              <a:solidFill>
                <a:srgbClr val="F5EEDE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1533467" cy="17087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452297" y="423299"/>
              <a:ext cx="2232039" cy="1787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662"/>
                </a:lnSpc>
              </a:pPr>
              <a:r>
                <a:rPr lang="en-US" sz="9662" b="1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02.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739075" y="912684"/>
            <a:ext cx="2013252" cy="1847913"/>
            <a:chOff x="0" y="0"/>
            <a:chExt cx="2684336" cy="2463883"/>
          </a:xfrm>
        </p:grpSpPr>
        <p:grpSp>
          <p:nvGrpSpPr>
            <p:cNvPr id="31" name="Group 31"/>
            <p:cNvGrpSpPr/>
            <p:nvPr/>
          </p:nvGrpSpPr>
          <p:grpSpPr>
            <a:xfrm rot="-5400000">
              <a:off x="110226" y="-110226"/>
              <a:ext cx="2463883" cy="2684336"/>
              <a:chOff x="0" y="0"/>
              <a:chExt cx="1533467" cy="167067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533467" cy="1670672"/>
              </a:xfrm>
              <a:custGeom>
                <a:avLst/>
                <a:gdLst/>
                <a:ahLst/>
                <a:cxnLst/>
                <a:rect l="l" t="t" r="r" b="b"/>
                <a:pathLst>
                  <a:path w="1533467" h="1670672">
                    <a:moveTo>
                      <a:pt x="263165" y="0"/>
                    </a:moveTo>
                    <a:lnTo>
                      <a:pt x="1270302" y="0"/>
                    </a:lnTo>
                    <a:cubicBezTo>
                      <a:pt x="1415644" y="0"/>
                      <a:pt x="1533467" y="117823"/>
                      <a:pt x="1533467" y="263165"/>
                    </a:cubicBezTo>
                    <a:lnTo>
                      <a:pt x="1533467" y="1407507"/>
                    </a:lnTo>
                    <a:cubicBezTo>
                      <a:pt x="1533467" y="1552849"/>
                      <a:pt x="1415644" y="1670672"/>
                      <a:pt x="1270302" y="1670672"/>
                    </a:cubicBezTo>
                    <a:lnTo>
                      <a:pt x="263165" y="1670672"/>
                    </a:lnTo>
                    <a:cubicBezTo>
                      <a:pt x="117823" y="1670672"/>
                      <a:pt x="0" y="1552849"/>
                      <a:pt x="0" y="1407507"/>
                    </a:cubicBezTo>
                    <a:lnTo>
                      <a:pt x="0" y="263165"/>
                    </a:lnTo>
                    <a:cubicBezTo>
                      <a:pt x="0" y="117823"/>
                      <a:pt x="117823" y="0"/>
                      <a:pt x="263165" y="0"/>
                    </a:cubicBezTo>
                    <a:close/>
                  </a:path>
                </a:pathLst>
              </a:custGeom>
              <a:solidFill>
                <a:srgbClr val="F5EEDE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533467" cy="17087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452297" y="423984"/>
              <a:ext cx="2232039" cy="1787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662"/>
                </a:lnSpc>
              </a:pPr>
              <a:r>
                <a:rPr lang="en-US" sz="9662" b="1" dirty="0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03.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9834670" y="802536"/>
            <a:ext cx="452328" cy="452328"/>
          </a:xfrm>
          <a:custGeom>
            <a:avLst/>
            <a:gdLst/>
            <a:ahLst/>
            <a:cxnLst/>
            <a:rect l="l" t="t" r="r" b="b"/>
            <a:pathLst>
              <a:path w="452328" h="452328">
                <a:moveTo>
                  <a:pt x="0" y="0"/>
                </a:moveTo>
                <a:lnTo>
                  <a:pt x="452328" y="0"/>
                </a:lnTo>
                <a:lnTo>
                  <a:pt x="452328" y="452328"/>
                </a:lnTo>
                <a:lnTo>
                  <a:pt x="0" y="4523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6" name="Group 36"/>
          <p:cNvGrpSpPr/>
          <p:nvPr/>
        </p:nvGrpSpPr>
        <p:grpSpPr>
          <a:xfrm>
            <a:off x="4648200" y="6552843"/>
            <a:ext cx="648057" cy="648057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Freeform 32">
            <a:extLst>
              <a:ext uri="{FF2B5EF4-FFF2-40B4-BE49-F238E27FC236}">
                <a16:creationId xmlns:a16="http://schemas.microsoft.com/office/drawing/2014/main" id="{69876E49-8949-9127-3097-E8F15F0E0A9A}"/>
              </a:ext>
            </a:extLst>
          </p:cNvPr>
          <p:cNvSpPr/>
          <p:nvPr/>
        </p:nvSpPr>
        <p:spPr>
          <a:xfrm rot="16200000">
            <a:off x="10821744" y="3315658"/>
            <a:ext cx="1847913" cy="2013252"/>
          </a:xfrm>
          <a:custGeom>
            <a:avLst/>
            <a:gdLst/>
            <a:ahLst/>
            <a:cxnLst/>
            <a:rect l="l" t="t" r="r" b="b"/>
            <a:pathLst>
              <a:path w="1533467" h="1670672">
                <a:moveTo>
                  <a:pt x="263165" y="0"/>
                </a:moveTo>
                <a:lnTo>
                  <a:pt x="1270302" y="0"/>
                </a:lnTo>
                <a:cubicBezTo>
                  <a:pt x="1415644" y="0"/>
                  <a:pt x="1533467" y="117823"/>
                  <a:pt x="1533467" y="263165"/>
                </a:cubicBezTo>
                <a:lnTo>
                  <a:pt x="1533467" y="1407507"/>
                </a:lnTo>
                <a:cubicBezTo>
                  <a:pt x="1533467" y="1552849"/>
                  <a:pt x="1415644" y="1670672"/>
                  <a:pt x="1270302" y="1670672"/>
                </a:cubicBezTo>
                <a:lnTo>
                  <a:pt x="263165" y="1670672"/>
                </a:lnTo>
                <a:cubicBezTo>
                  <a:pt x="117823" y="1670672"/>
                  <a:pt x="0" y="1552849"/>
                  <a:pt x="0" y="1407507"/>
                </a:cubicBezTo>
                <a:lnTo>
                  <a:pt x="0" y="263165"/>
                </a:lnTo>
                <a:cubicBezTo>
                  <a:pt x="0" y="117823"/>
                  <a:pt x="117823" y="0"/>
                  <a:pt x="263165" y="0"/>
                </a:cubicBezTo>
                <a:close/>
              </a:path>
            </a:pathLst>
          </a:custGeom>
          <a:solidFill>
            <a:srgbClr val="F5EEDE"/>
          </a:solidFill>
          <a:ln w="47625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Box 34">
            <a:extLst>
              <a:ext uri="{FF2B5EF4-FFF2-40B4-BE49-F238E27FC236}">
                <a16:creationId xmlns:a16="http://schemas.microsoft.com/office/drawing/2014/main" id="{9A0F4F33-3337-5AA8-6BBA-17AC46544A3A}"/>
              </a:ext>
            </a:extLst>
          </p:cNvPr>
          <p:cNvSpPr txBox="1"/>
          <p:nvPr/>
        </p:nvSpPr>
        <p:spPr>
          <a:xfrm>
            <a:off x="11078297" y="3710744"/>
            <a:ext cx="1674029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2"/>
              </a:lnSpc>
            </a:pPr>
            <a:r>
              <a:rPr lang="en-US" sz="9662" b="1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04.</a:t>
            </a:r>
          </a:p>
        </p:txBody>
      </p:sp>
      <p:sp>
        <p:nvSpPr>
          <p:cNvPr id="42" name="TextBox 12">
            <a:extLst>
              <a:ext uri="{FF2B5EF4-FFF2-40B4-BE49-F238E27FC236}">
                <a16:creationId xmlns:a16="http://schemas.microsoft.com/office/drawing/2014/main" id="{5DFBABD7-592A-A5AD-2AE5-6C6D4487C4D2}"/>
              </a:ext>
            </a:extLst>
          </p:cNvPr>
          <p:cNvSpPr txBox="1"/>
          <p:nvPr/>
        </p:nvSpPr>
        <p:spPr>
          <a:xfrm>
            <a:off x="13411200" y="3760309"/>
            <a:ext cx="3794478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39"/>
              </a:lnSpc>
              <a:spcBef>
                <a:spcPct val="0"/>
              </a:spcBef>
            </a:pPr>
            <a:r>
              <a:rPr lang="en-US" sz="3699" b="1" u="none" strike="noStrike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IL CONFRONTO</a:t>
            </a:r>
          </a:p>
        </p:txBody>
      </p:sp>
      <p:sp>
        <p:nvSpPr>
          <p:cNvPr id="43" name="TextBox 18">
            <a:extLst>
              <a:ext uri="{FF2B5EF4-FFF2-40B4-BE49-F238E27FC236}">
                <a16:creationId xmlns:a16="http://schemas.microsoft.com/office/drawing/2014/main" id="{7188D744-6929-CD3E-2565-1FFCEBC73033}"/>
              </a:ext>
            </a:extLst>
          </p:cNvPr>
          <p:cNvSpPr txBox="1"/>
          <p:nvPr/>
        </p:nvSpPr>
        <p:spPr>
          <a:xfrm>
            <a:off x="13411200" y="4381290"/>
            <a:ext cx="2908763" cy="1082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it-IT" sz="1600" u="none" strike="noStrike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Paragone dei dati italiani con il resto dell’Europa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it-IT" sz="1600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cura di Fadwa </a:t>
            </a:r>
            <a:r>
              <a:rPr lang="it-IT" sz="1600" noProof="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Naji</a:t>
            </a:r>
            <a:endParaRPr lang="it-IT" sz="1600" u="none" strike="noStrike" noProof="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9876" y="0"/>
            <a:ext cx="19119646" cy="10256234"/>
          </a:xfrm>
          <a:custGeom>
            <a:avLst/>
            <a:gdLst/>
            <a:ahLst/>
            <a:cxnLst/>
            <a:rect l="l" t="t" r="r" b="b"/>
            <a:pathLst>
              <a:path w="19119646" h="10256234">
                <a:moveTo>
                  <a:pt x="0" y="0"/>
                </a:moveTo>
                <a:lnTo>
                  <a:pt x="19119646" y="0"/>
                </a:lnTo>
                <a:lnTo>
                  <a:pt x="19119646" y="10256234"/>
                </a:lnTo>
                <a:lnTo>
                  <a:pt x="0" y="10256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40271" b="-46148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-1842564" y="-3497597"/>
            <a:ext cx="18322439" cy="12390885"/>
            <a:chOff x="0" y="0"/>
            <a:chExt cx="4825663" cy="32634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25663" cy="3263443"/>
            </a:xfrm>
            <a:custGeom>
              <a:avLst/>
              <a:gdLst/>
              <a:ahLst/>
              <a:cxnLst/>
              <a:rect l="l" t="t" r="r" b="b"/>
              <a:pathLst>
                <a:path w="4825663" h="3263443">
                  <a:moveTo>
                    <a:pt x="42254" y="0"/>
                  </a:moveTo>
                  <a:lnTo>
                    <a:pt x="4783409" y="0"/>
                  </a:lnTo>
                  <a:cubicBezTo>
                    <a:pt x="4806745" y="0"/>
                    <a:pt x="4825663" y="18918"/>
                    <a:pt x="4825663" y="42254"/>
                  </a:cubicBezTo>
                  <a:lnTo>
                    <a:pt x="4825663" y="3221189"/>
                  </a:lnTo>
                  <a:cubicBezTo>
                    <a:pt x="4825663" y="3244525"/>
                    <a:pt x="4806745" y="3263443"/>
                    <a:pt x="4783409" y="3263443"/>
                  </a:cubicBezTo>
                  <a:lnTo>
                    <a:pt x="42254" y="3263443"/>
                  </a:lnTo>
                  <a:cubicBezTo>
                    <a:pt x="18918" y="3263443"/>
                    <a:pt x="0" y="3244525"/>
                    <a:pt x="0" y="3221189"/>
                  </a:cubicBezTo>
                  <a:lnTo>
                    <a:pt x="0" y="42254"/>
                  </a:lnTo>
                  <a:cubicBezTo>
                    <a:pt x="0" y="18918"/>
                    <a:pt x="18918" y="0"/>
                    <a:pt x="42254" y="0"/>
                  </a:cubicBezTo>
                  <a:close/>
                </a:path>
              </a:pathLst>
            </a:custGeom>
            <a:solidFill>
              <a:srgbClr val="FFA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25663" cy="3301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16209403" y="8185665"/>
            <a:ext cx="1191946" cy="4368787"/>
            <a:chOff x="0" y="0"/>
            <a:chExt cx="313928" cy="11506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3928" cy="1150627"/>
            </a:xfrm>
            <a:custGeom>
              <a:avLst/>
              <a:gdLst/>
              <a:ahLst/>
              <a:cxnLst/>
              <a:rect l="l" t="t" r="r" b="b"/>
              <a:pathLst>
                <a:path w="313928" h="1150627">
                  <a:moveTo>
                    <a:pt x="0" y="0"/>
                  </a:moveTo>
                  <a:lnTo>
                    <a:pt x="313928" y="0"/>
                  </a:lnTo>
                  <a:lnTo>
                    <a:pt x="313928" y="1150627"/>
                  </a:lnTo>
                  <a:lnTo>
                    <a:pt x="0" y="1150627"/>
                  </a:lnTo>
                  <a:close/>
                </a:path>
              </a:pathLst>
            </a:custGeom>
            <a:solidFill>
              <a:srgbClr val="E13B2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13928" cy="1188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6160915" y="7475867"/>
            <a:ext cx="227650" cy="4368787"/>
            <a:chOff x="0" y="0"/>
            <a:chExt cx="59957" cy="11506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957" cy="1150627"/>
            </a:xfrm>
            <a:custGeom>
              <a:avLst/>
              <a:gdLst/>
              <a:ahLst/>
              <a:cxnLst/>
              <a:rect l="l" t="t" r="r" b="b"/>
              <a:pathLst>
                <a:path w="59957" h="1150627">
                  <a:moveTo>
                    <a:pt x="0" y="0"/>
                  </a:moveTo>
                  <a:lnTo>
                    <a:pt x="59957" y="0"/>
                  </a:lnTo>
                  <a:lnTo>
                    <a:pt x="59957" y="1150627"/>
                  </a:lnTo>
                  <a:lnTo>
                    <a:pt x="0" y="11506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9957" cy="1188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715000" y="2242336"/>
            <a:ext cx="9525000" cy="44408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it-IT" sz="21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Come procede il trend delle nascite in Italia? La risposta è facile, anche senza approfondimenti: male. E perché? Abbiamo cercato di dare una risposta che non sia univoca proprio perché non c’è un solo motivo che influisce su questo andamento. Siamo partiti dall’Italia per arrivare al dato europeo e vederne le differenze, e cosa abbiamo capito? Che non bastano i bonus bebè se il contesto familiare non è supportato prima ancora che ci sia un desiderio di maternità. Certo, la natura umana influisce inesorabilmente sul dato generale, e ne abbiamo tenuto conto, ma a nostro avviso ci sono altri aspetti fondamentali da attenzionare per creare le migliori condizioni per poter cambiare un passo alla volta l’andamento del dato.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it-IT" sz="2100" u="none" strike="noStrike" noProof="0" dirty="0">
              <a:solidFill>
                <a:srgbClr val="000000"/>
              </a:solidFill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it-IT" sz="21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Per questa analisi ci siamo serviti delle banche dati ISTAT e EUROSTAT. I dati raccolti in file </a:t>
            </a:r>
            <a:r>
              <a:rPr lang="it-IT" sz="2100" dirty="0" err="1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excel</a:t>
            </a:r>
            <a:r>
              <a:rPr lang="it-IT" sz="21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 e csv sono stati puliti e aggregati in base alle esigenze con Python e Power BI. </a:t>
            </a:r>
            <a:endParaRPr lang="it-IT" sz="2100" u="none" strike="noStrike" noProof="0" dirty="0">
              <a:solidFill>
                <a:srgbClr val="000000"/>
              </a:solidFill>
              <a:ea typeface="Open Sans"/>
              <a:cs typeface="Open Sans"/>
              <a:sym typeface="Open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735782" y="858250"/>
            <a:ext cx="7697718" cy="146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00"/>
              </a:lnSpc>
              <a:spcBef>
                <a:spcPct val="0"/>
              </a:spcBef>
            </a:pPr>
            <a:r>
              <a:rPr lang="it-IT" sz="8800" b="1" u="none" strike="noStrike" noProof="0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Introduzione</a:t>
            </a:r>
          </a:p>
        </p:txBody>
      </p:sp>
      <p:sp>
        <p:nvSpPr>
          <p:cNvPr id="14" name="Freeform 14"/>
          <p:cNvSpPr/>
          <p:nvPr/>
        </p:nvSpPr>
        <p:spPr>
          <a:xfrm>
            <a:off x="188001" y="2476501"/>
            <a:ext cx="5060701" cy="4872452"/>
          </a:xfrm>
          <a:custGeom>
            <a:avLst/>
            <a:gdLst/>
            <a:ahLst/>
            <a:cxnLst/>
            <a:rect l="l" t="t" r="r" b="b"/>
            <a:pathLst>
              <a:path w="7370703" h="6663923">
                <a:moveTo>
                  <a:pt x="0" y="0"/>
                </a:moveTo>
                <a:lnTo>
                  <a:pt x="7370703" y="0"/>
                </a:lnTo>
                <a:lnTo>
                  <a:pt x="7370703" y="6663923"/>
                </a:lnTo>
                <a:lnTo>
                  <a:pt x="0" y="6663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9183" t="-61914" r="-23272" b="-63836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5" name="Group 15"/>
          <p:cNvGrpSpPr/>
          <p:nvPr/>
        </p:nvGrpSpPr>
        <p:grpSpPr>
          <a:xfrm>
            <a:off x="762000" y="1447622"/>
            <a:ext cx="648057" cy="64805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5248702" y="6438900"/>
            <a:ext cx="620057" cy="620057"/>
          </a:xfrm>
          <a:custGeom>
            <a:avLst/>
            <a:gdLst/>
            <a:ahLst/>
            <a:cxnLst/>
            <a:rect l="l" t="t" r="r" b="b"/>
            <a:pathLst>
              <a:path w="620057" h="620057">
                <a:moveTo>
                  <a:pt x="0" y="0"/>
                </a:moveTo>
                <a:lnTo>
                  <a:pt x="620057" y="0"/>
                </a:lnTo>
                <a:lnTo>
                  <a:pt x="620057" y="620057"/>
                </a:lnTo>
                <a:lnTo>
                  <a:pt x="0" y="6200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0766"/>
            <a:ext cx="19119646" cy="10256234"/>
          </a:xfrm>
          <a:custGeom>
            <a:avLst/>
            <a:gdLst/>
            <a:ahLst/>
            <a:cxnLst/>
            <a:rect l="l" t="t" r="r" b="b"/>
            <a:pathLst>
              <a:path w="19119646" h="10256234">
                <a:moveTo>
                  <a:pt x="0" y="0"/>
                </a:moveTo>
                <a:lnTo>
                  <a:pt x="19119646" y="0"/>
                </a:lnTo>
                <a:lnTo>
                  <a:pt x="19119646" y="10256234"/>
                </a:lnTo>
                <a:lnTo>
                  <a:pt x="0" y="10256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40271" b="-46148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-2855039" y="-3839094"/>
            <a:ext cx="18322439" cy="12390885"/>
            <a:chOff x="0" y="0"/>
            <a:chExt cx="4825663" cy="32634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25663" cy="3263443"/>
            </a:xfrm>
            <a:custGeom>
              <a:avLst/>
              <a:gdLst/>
              <a:ahLst/>
              <a:cxnLst/>
              <a:rect l="l" t="t" r="r" b="b"/>
              <a:pathLst>
                <a:path w="4825663" h="3263443">
                  <a:moveTo>
                    <a:pt x="42254" y="0"/>
                  </a:moveTo>
                  <a:lnTo>
                    <a:pt x="4783409" y="0"/>
                  </a:lnTo>
                  <a:cubicBezTo>
                    <a:pt x="4806745" y="0"/>
                    <a:pt x="4825663" y="18918"/>
                    <a:pt x="4825663" y="42254"/>
                  </a:cubicBezTo>
                  <a:lnTo>
                    <a:pt x="4825663" y="3221189"/>
                  </a:lnTo>
                  <a:cubicBezTo>
                    <a:pt x="4825663" y="3244525"/>
                    <a:pt x="4806745" y="3263443"/>
                    <a:pt x="4783409" y="3263443"/>
                  </a:cubicBezTo>
                  <a:lnTo>
                    <a:pt x="42254" y="3263443"/>
                  </a:lnTo>
                  <a:cubicBezTo>
                    <a:pt x="18918" y="3263443"/>
                    <a:pt x="0" y="3244525"/>
                    <a:pt x="0" y="3221189"/>
                  </a:cubicBezTo>
                  <a:lnTo>
                    <a:pt x="0" y="42254"/>
                  </a:lnTo>
                  <a:cubicBezTo>
                    <a:pt x="0" y="18918"/>
                    <a:pt x="18918" y="0"/>
                    <a:pt x="42254" y="0"/>
                  </a:cubicBezTo>
                  <a:close/>
                </a:path>
              </a:pathLst>
            </a:custGeom>
            <a:solidFill>
              <a:srgbClr val="FFA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25663" cy="3301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560843" y="-729752"/>
            <a:ext cx="1191946" cy="3086100"/>
            <a:chOff x="0" y="0"/>
            <a:chExt cx="313928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3928" cy="812800"/>
            </a:xfrm>
            <a:custGeom>
              <a:avLst/>
              <a:gdLst/>
              <a:ahLst/>
              <a:cxnLst/>
              <a:rect l="l" t="t" r="r" b="b"/>
              <a:pathLst>
                <a:path w="313928" h="812800">
                  <a:moveTo>
                    <a:pt x="0" y="0"/>
                  </a:moveTo>
                  <a:lnTo>
                    <a:pt x="313928" y="0"/>
                  </a:lnTo>
                  <a:lnTo>
                    <a:pt x="31392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3B2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1392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335576" y="-1753752"/>
            <a:ext cx="251024" cy="4605070"/>
            <a:chOff x="0" y="-38100"/>
            <a:chExt cx="66113" cy="1212858"/>
          </a:xfrm>
        </p:grpSpPr>
        <p:sp>
          <p:nvSpPr>
            <p:cNvPr id="10" name="Freeform 10"/>
            <p:cNvSpPr/>
            <p:nvPr/>
          </p:nvSpPr>
          <p:spPr>
            <a:xfrm>
              <a:off x="6156" y="361958"/>
              <a:ext cx="59957" cy="812800"/>
            </a:xfrm>
            <a:custGeom>
              <a:avLst/>
              <a:gdLst/>
              <a:ahLst/>
              <a:cxnLst/>
              <a:rect l="l" t="t" r="r" b="b"/>
              <a:pathLst>
                <a:path w="59957" h="812800">
                  <a:moveTo>
                    <a:pt x="0" y="0"/>
                  </a:moveTo>
                  <a:lnTo>
                    <a:pt x="59957" y="0"/>
                  </a:lnTo>
                  <a:lnTo>
                    <a:pt x="5995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995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42068" y="734651"/>
            <a:ext cx="15746666" cy="1436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00"/>
              </a:lnSpc>
              <a:spcBef>
                <a:spcPct val="0"/>
              </a:spcBef>
            </a:pPr>
            <a:r>
              <a:rPr lang="it-IT" sz="8800" b="1" noProof="0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Contesto storico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2068" y="1943100"/>
            <a:ext cx="7467600" cy="6140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it-IT" sz="2100" dirty="0"/>
              <a:t>A partire dagli anni ’50, la famiglia italiana ha subito trasformazioni profonde che hanno influenzato direttamente i principali indicatori demografici e sociali.</a:t>
            </a:r>
          </a:p>
          <a:p>
            <a:r>
              <a:rPr lang="it-IT" sz="2100" dirty="0"/>
              <a:t>Nel secondo dopoguerra, la famiglia era caratterizzata da un modello tradizionale: nuclei numerosi, matrimonio stabile e ruoli ben definiti, con una forte centralità della figura maschile nel lavoro e di quella femminile nella cura domestica. Questo assetto si rifletteva in alti livelli di natalità e fecondità, sostenuti anche da una bassa partecipazione femminile al mercato del lavoro.</a:t>
            </a:r>
          </a:p>
          <a:p>
            <a:r>
              <a:rPr lang="it-IT" sz="2100" dirty="0"/>
              <a:t>A partire dagli anni ’70, con l’introduzione del divorzio e la riforma del diritto di famiglia, si assiste a una progressiva trasformazione: la famiglia diventa meno stabile e più flessibile. Parallelamente, aumentano le separazioni e i divorzi, mentre il matrimonio perde centralità come unico modello familiare.</a:t>
            </a:r>
          </a:p>
          <a:p>
            <a:r>
              <a:rPr lang="it-IT" sz="2100" dirty="0"/>
              <a:t>Negli anni ’80 e ’90 emerge un cambiamento ancora più significativo: la diffusione delle famiglie di fatto, delle convivenze e dei nuclei unipersonali. Questo processo è accompagnato da una crescente partecipazione delle donne al mercato del lavoro e da un innalzamento del livello di istruzione femminile.</a:t>
            </a: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E9FB0CA6-CE10-732C-97A6-D88CDF9F26F6}"/>
              </a:ext>
            </a:extLst>
          </p:cNvPr>
          <p:cNvSpPr/>
          <p:nvPr/>
        </p:nvSpPr>
        <p:spPr>
          <a:xfrm>
            <a:off x="356901" y="8605361"/>
            <a:ext cx="1370333" cy="1521478"/>
          </a:xfrm>
          <a:custGeom>
            <a:avLst/>
            <a:gdLst/>
            <a:ahLst/>
            <a:cxnLst/>
            <a:rect l="l" t="t" r="r" b="b"/>
            <a:pathLst>
              <a:path w="1087850" h="1218570">
                <a:moveTo>
                  <a:pt x="0" y="0"/>
                </a:moveTo>
                <a:lnTo>
                  <a:pt x="1087850" y="0"/>
                </a:lnTo>
                <a:lnTo>
                  <a:pt x="1087850" y="1218569"/>
                </a:lnTo>
                <a:lnTo>
                  <a:pt x="0" y="1218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680131C5-9F15-747B-CB3A-203D825803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3467700"/>
            <a:ext cx="6552000" cy="3276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F1F3F00F-8F43-E43D-BE84-2847942495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75892"/>
            <a:ext cx="6552000" cy="3276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0A5B16E1-E214-F962-9373-1D5B376BE3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7400" y="6850839"/>
            <a:ext cx="6552000" cy="3276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31646" y="0"/>
            <a:ext cx="19119646" cy="10256234"/>
          </a:xfrm>
          <a:custGeom>
            <a:avLst/>
            <a:gdLst/>
            <a:ahLst/>
            <a:cxnLst/>
            <a:rect l="l" t="t" r="r" b="b"/>
            <a:pathLst>
              <a:path w="19119646" h="10256234">
                <a:moveTo>
                  <a:pt x="0" y="0"/>
                </a:moveTo>
                <a:lnTo>
                  <a:pt x="19119646" y="0"/>
                </a:lnTo>
                <a:lnTo>
                  <a:pt x="19119646" y="10256234"/>
                </a:lnTo>
                <a:lnTo>
                  <a:pt x="0" y="10256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40271" b="-46148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-1760933" y="-3196055"/>
            <a:ext cx="18322439" cy="12390885"/>
            <a:chOff x="0" y="0"/>
            <a:chExt cx="4825663" cy="32634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25663" cy="3263443"/>
            </a:xfrm>
            <a:custGeom>
              <a:avLst/>
              <a:gdLst/>
              <a:ahLst/>
              <a:cxnLst/>
              <a:rect l="l" t="t" r="r" b="b"/>
              <a:pathLst>
                <a:path w="4825663" h="3263443">
                  <a:moveTo>
                    <a:pt x="42254" y="0"/>
                  </a:moveTo>
                  <a:lnTo>
                    <a:pt x="4783409" y="0"/>
                  </a:lnTo>
                  <a:cubicBezTo>
                    <a:pt x="4806745" y="0"/>
                    <a:pt x="4825663" y="18918"/>
                    <a:pt x="4825663" y="42254"/>
                  </a:cubicBezTo>
                  <a:lnTo>
                    <a:pt x="4825663" y="3221189"/>
                  </a:lnTo>
                  <a:cubicBezTo>
                    <a:pt x="4825663" y="3244525"/>
                    <a:pt x="4806745" y="3263443"/>
                    <a:pt x="4783409" y="3263443"/>
                  </a:cubicBezTo>
                  <a:lnTo>
                    <a:pt x="42254" y="3263443"/>
                  </a:lnTo>
                  <a:cubicBezTo>
                    <a:pt x="18918" y="3263443"/>
                    <a:pt x="0" y="3244525"/>
                    <a:pt x="0" y="3221189"/>
                  </a:cubicBezTo>
                  <a:lnTo>
                    <a:pt x="0" y="42254"/>
                  </a:lnTo>
                  <a:cubicBezTo>
                    <a:pt x="0" y="18918"/>
                    <a:pt x="18918" y="0"/>
                    <a:pt x="42254" y="0"/>
                  </a:cubicBezTo>
                  <a:close/>
                </a:path>
              </a:pathLst>
            </a:custGeom>
            <a:solidFill>
              <a:srgbClr val="FFA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25663" cy="3301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504487" y="8669309"/>
            <a:ext cx="1659865" cy="1481688"/>
          </a:xfrm>
          <a:custGeom>
            <a:avLst/>
            <a:gdLst/>
            <a:ahLst/>
            <a:cxnLst/>
            <a:rect l="l" t="t" r="r" b="b"/>
            <a:pathLst>
              <a:path w="7686177" h="6120992">
                <a:moveTo>
                  <a:pt x="0" y="0"/>
                </a:moveTo>
                <a:lnTo>
                  <a:pt x="7686176" y="0"/>
                </a:lnTo>
                <a:lnTo>
                  <a:pt x="7686176" y="6120991"/>
                </a:lnTo>
                <a:lnTo>
                  <a:pt x="0" y="61209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3" name="Group 13"/>
          <p:cNvGrpSpPr/>
          <p:nvPr/>
        </p:nvGrpSpPr>
        <p:grpSpPr>
          <a:xfrm rot="5400000">
            <a:off x="-595973" y="8952535"/>
            <a:ext cx="1191946" cy="3086100"/>
            <a:chOff x="0" y="0"/>
            <a:chExt cx="313928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3928" cy="812800"/>
            </a:xfrm>
            <a:custGeom>
              <a:avLst/>
              <a:gdLst/>
              <a:ahLst/>
              <a:cxnLst/>
              <a:rect l="l" t="t" r="r" b="b"/>
              <a:pathLst>
                <a:path w="313928" h="812800">
                  <a:moveTo>
                    <a:pt x="0" y="0"/>
                  </a:moveTo>
                  <a:lnTo>
                    <a:pt x="313928" y="0"/>
                  </a:lnTo>
                  <a:lnTo>
                    <a:pt x="31392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3B2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1392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5400000">
            <a:off x="161630" y="8098313"/>
            <a:ext cx="227650" cy="3650868"/>
            <a:chOff x="0" y="0"/>
            <a:chExt cx="59957" cy="96154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9957" cy="961545"/>
            </a:xfrm>
            <a:custGeom>
              <a:avLst/>
              <a:gdLst/>
              <a:ahLst/>
              <a:cxnLst/>
              <a:rect l="l" t="t" r="r" b="b"/>
              <a:pathLst>
                <a:path w="59957" h="961545">
                  <a:moveTo>
                    <a:pt x="0" y="0"/>
                  </a:moveTo>
                  <a:lnTo>
                    <a:pt x="59957" y="0"/>
                  </a:lnTo>
                  <a:lnTo>
                    <a:pt x="59957" y="961545"/>
                  </a:lnTo>
                  <a:lnTo>
                    <a:pt x="0" y="961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9957" cy="999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067800" y="4457700"/>
            <a:ext cx="7386673" cy="4068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it-IT" sz="2100" u="none" strike="noStrike" noProof="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Con il calcolo della curva polinomiale per la previsione di </a:t>
            </a:r>
            <a:r>
              <a:rPr lang="it-IT" sz="21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ognuno di questi trend </a:t>
            </a:r>
            <a:r>
              <a:rPr lang="it-IT" sz="2100" u="none" strike="noStrike" noProof="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è ancora più evidente che, se non si interviene il prima possibile, l’Italia è destinata a invecchiare sempre di più. Dai grafici si evidenzia come, nel 2052, fra soli 26 anni, il numero dei nati e il tasso di fecondità continueranno a scendere, mentre l’età media della popolazione italiana sarà di 55 anni e ciò significa, nel caso delle donna, ben lontana dall’età fertile. 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it-IT" sz="2100" dirty="0">
              <a:solidFill>
                <a:srgbClr val="000000"/>
              </a:solidFill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it-IT" sz="2100" u="none" strike="noStrike" noProof="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Siamo partiti da questo per approfondire tematiche sociali ed economiche su cui la politica può e deve intervenire al più presto per tentare di invertire il trend negativo.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24769" y="9346665"/>
            <a:ext cx="9816251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it-IT" sz="9000" b="1" noProof="0" dirty="0">
                <a:solidFill>
                  <a:srgbClr val="0F1A3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Previsioni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-225241" y="-303784"/>
            <a:ext cx="881962" cy="881962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8418148" y="7093837"/>
            <a:ext cx="620057" cy="620057"/>
          </a:xfrm>
          <a:custGeom>
            <a:avLst/>
            <a:gdLst/>
            <a:ahLst/>
            <a:cxnLst/>
            <a:rect l="l" t="t" r="r" b="b"/>
            <a:pathLst>
              <a:path w="620057" h="620057">
                <a:moveTo>
                  <a:pt x="0" y="0"/>
                </a:moveTo>
                <a:lnTo>
                  <a:pt x="620057" y="0"/>
                </a:lnTo>
                <a:lnTo>
                  <a:pt x="620057" y="620056"/>
                </a:lnTo>
                <a:lnTo>
                  <a:pt x="0" y="620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0" name="Freeform 30"/>
          <p:cNvSpPr/>
          <p:nvPr/>
        </p:nvSpPr>
        <p:spPr>
          <a:xfrm>
            <a:off x="14766444" y="578178"/>
            <a:ext cx="901044" cy="901044"/>
          </a:xfrm>
          <a:custGeom>
            <a:avLst/>
            <a:gdLst/>
            <a:ahLst/>
            <a:cxnLst/>
            <a:rect l="l" t="t" r="r" b="b"/>
            <a:pathLst>
              <a:path w="901044" h="901044">
                <a:moveTo>
                  <a:pt x="0" y="0"/>
                </a:moveTo>
                <a:lnTo>
                  <a:pt x="901044" y="0"/>
                </a:lnTo>
                <a:lnTo>
                  <a:pt x="901044" y="901044"/>
                </a:lnTo>
                <a:lnTo>
                  <a:pt x="0" y="9010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F1FF83EB-70F1-D53D-4207-38F87710C98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846" y="256152"/>
            <a:ext cx="7920000" cy="396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4F36D054-10B4-60EB-240A-74847174CA5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4" y="249428"/>
            <a:ext cx="7920000" cy="396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6" name="Immagine 35">
            <a:extLst>
              <a:ext uri="{FF2B5EF4-FFF2-40B4-BE49-F238E27FC236}">
                <a16:creationId xmlns:a16="http://schemas.microsoft.com/office/drawing/2014/main" id="{3134C189-0D3F-0F72-A801-F6281C630B3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39" y="4532914"/>
            <a:ext cx="7920000" cy="396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2722</TotalTime>
  <Words>564</Words>
  <Application>Microsoft Office PowerPoint</Application>
  <PresentationFormat>Personalizzato</PresentationFormat>
  <Paragraphs>33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0" baseType="lpstr">
      <vt:lpstr>Arial</vt:lpstr>
      <vt:lpstr>Open Sans</vt:lpstr>
      <vt:lpstr>Calibri</vt:lpstr>
      <vt:lpstr>Roboto Condensed 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di Simple Competitive Analysis Slides   </dc:title>
  <cp:lastModifiedBy>Margherita Lerra</cp:lastModifiedBy>
  <cp:revision>5</cp:revision>
  <dcterms:created xsi:type="dcterms:W3CDTF">2006-08-16T00:00:00Z</dcterms:created>
  <dcterms:modified xsi:type="dcterms:W3CDTF">2026-03-29T09:15:10Z</dcterms:modified>
  <dc:identifier>DAHE39PelaU</dc:identifier>
</cp:coreProperties>
</file>